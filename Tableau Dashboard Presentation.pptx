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Garamond" panose="02020404030301010803" pitchFamily="18" charset="0"/>
      <p:regular r:id="rId10"/>
      <p:bold r:id="rId11"/>
      <p:italic r:id="rId12"/>
      <p:boldItalic r:id="rId13"/>
    </p:embeddedFont>
    <p:embeddedFont>
      <p:font typeface="Garamond Bold" panose="02020804030307010803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 autoAdjust="0"/>
    <p:restoredTop sz="94591" autoAdjust="0"/>
  </p:normalViewPr>
  <p:slideViewPr>
    <p:cSldViewPr>
      <p:cViewPr varScale="1">
        <p:scale>
          <a:sx n="74" d="100"/>
          <a:sy n="74" d="100"/>
        </p:scale>
        <p:origin x="6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3764" y="2239573"/>
            <a:ext cx="16229942" cy="3392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579"/>
              </a:lnSpc>
              <a:spcBef>
                <a:spcPct val="0"/>
              </a:spcBef>
            </a:pPr>
            <a:r>
              <a:rPr lang="en-US" sz="9699" b="1">
                <a:solidFill>
                  <a:srgbClr val="0F4662"/>
                </a:solidFill>
                <a:latin typeface="Garamond Bold"/>
                <a:ea typeface="Garamond Bold"/>
                <a:cs typeface="Garamond Bold"/>
                <a:sym typeface="Garamond Bold"/>
              </a:rPr>
              <a:t>Retail Sales Performance Dashboard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752274" y="6428880"/>
            <a:ext cx="12812922" cy="84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4889" dirty="0">
                <a:solidFill>
                  <a:srgbClr val="0F4662"/>
                </a:solidFill>
                <a:latin typeface="Garamond"/>
                <a:ea typeface="Garamond"/>
                <a:cs typeface="Garamond"/>
                <a:sym typeface="Garamond"/>
              </a:rPr>
              <a:t>					By Group 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64486" y="7710779"/>
            <a:ext cx="7594313" cy="536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 dirty="0">
                <a:solidFill>
                  <a:srgbClr val="0F4662"/>
                </a:solidFill>
                <a:latin typeface="Garamond"/>
                <a:ea typeface="Garamond"/>
                <a:cs typeface="Garamond"/>
                <a:sym typeface="Garamond"/>
              </a:rPr>
              <a:t>					4/12/2025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8317" y="2981500"/>
            <a:ext cx="15218949" cy="584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Objective:</a:t>
            </a:r>
          </a:p>
          <a:p>
            <a:pPr marL="539746" lvl="1" indent="-269873" algn="l">
              <a:lnSpc>
                <a:spcPts val="424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To enable data-driven decision-making by visualizing key aspects of retail performance, including customer satisfaction, inventory movement, and sales trends.</a:t>
            </a:r>
          </a:p>
          <a:p>
            <a:pPr algn="l">
              <a:lnSpc>
                <a:spcPts val="4249"/>
              </a:lnSpc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Project Scope:</a:t>
            </a:r>
          </a:p>
          <a:p>
            <a:pPr marL="539746" lvl="1" indent="-269873" algn="l">
              <a:lnSpc>
                <a:spcPts val="424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The dashboard empowers marketing, sales, and inventory teams to align strategies with high-impact patterns and customer segments.</a:t>
            </a:r>
          </a:p>
          <a:p>
            <a:pPr marL="539746" lvl="1" indent="-269873" algn="l">
              <a:lnSpc>
                <a:spcPts val="4249"/>
              </a:lnSpc>
              <a:buFont typeface="Arial"/>
              <a:buChar char="•"/>
            </a:pPr>
            <a:r>
              <a:rPr lang="en-US" sz="2400" u="none" strike="noStrike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It is a comprehensive tool for analyzing and managing retail sales data effectively.</a:t>
            </a:r>
          </a:p>
          <a:p>
            <a:pPr marL="539746" lvl="1" indent="-269873" algn="l">
              <a:lnSpc>
                <a:spcPts val="4249"/>
              </a:lnSpc>
              <a:buFont typeface="Arial"/>
              <a:buChar char="•"/>
            </a:pPr>
            <a:r>
              <a:rPr lang="en-US" sz="2400" u="none" strike="noStrike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It integrates key metrics into one interface.</a:t>
            </a:r>
          </a:p>
          <a:p>
            <a:pPr marL="539746" lvl="1" indent="-269873" algn="l">
              <a:lnSpc>
                <a:spcPts val="4249"/>
              </a:lnSpc>
              <a:buFont typeface="Arial"/>
              <a:buChar char="•"/>
            </a:pPr>
            <a:r>
              <a:rPr lang="en-US" sz="2400" u="none" strike="noStrike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Complex data is presented through intuitive visual formats for quick understanding.</a:t>
            </a:r>
          </a:p>
          <a:p>
            <a:pPr marL="539746" lvl="1" indent="-269873" algn="l">
              <a:lnSpc>
                <a:spcPts val="4249"/>
              </a:lnSpc>
              <a:buFont typeface="Arial"/>
              <a:buChar char="•"/>
            </a:pPr>
            <a:r>
              <a:rPr lang="en-US" sz="2400" u="none" strike="noStrike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Users can easily identify trends, discover opportunities, and pinpoint improvement areas.</a:t>
            </a:r>
          </a:p>
          <a:p>
            <a:pPr algn="l">
              <a:lnSpc>
                <a:spcPts val="4249"/>
              </a:lnSpc>
            </a:pPr>
            <a:endParaRPr lang="en-US" sz="2400" u="none" strike="noStrike" dirty="0">
              <a:solidFill>
                <a:srgbClr val="0F4662"/>
              </a:solidFill>
              <a:latin typeface="Times New Roman" panose="02020603050405020304" pitchFamily="18" charset="0"/>
              <a:ea typeface="Garamond"/>
              <a:cs typeface="Times New Roman" panose="02020603050405020304" pitchFamily="18" charset="0"/>
              <a:sym typeface="Garamon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28317" y="1227542"/>
            <a:ext cx="16230600" cy="105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 b="1" dirty="0">
                <a:solidFill>
                  <a:srgbClr val="0F4662"/>
                </a:solidFill>
                <a:latin typeface="Times New Roman" panose="02020603050405020304" pitchFamily="18" charset="0"/>
                <a:ea typeface="Garamond Bold"/>
                <a:cs typeface="Times New Roman" panose="02020603050405020304" pitchFamily="18" charset="0"/>
                <a:sym typeface="Garamond Bold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1810" y="1330987"/>
            <a:ext cx="13002083" cy="3868120"/>
          </a:xfrm>
          <a:custGeom>
            <a:avLst/>
            <a:gdLst/>
            <a:ahLst/>
            <a:cxnLst/>
            <a:rect l="l" t="t" r="r" b="b"/>
            <a:pathLst>
              <a:path w="13002083" h="3868120">
                <a:moveTo>
                  <a:pt x="0" y="0"/>
                </a:moveTo>
                <a:lnTo>
                  <a:pt x="13002083" y="0"/>
                </a:lnTo>
                <a:lnTo>
                  <a:pt x="13002083" y="3868120"/>
                </a:lnTo>
                <a:lnTo>
                  <a:pt x="0" y="3868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91810" y="107330"/>
            <a:ext cx="15782106" cy="105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 b="1" dirty="0">
                <a:solidFill>
                  <a:srgbClr val="0F4662"/>
                </a:solidFill>
                <a:latin typeface="Times New Roman" panose="02020603050405020304" pitchFamily="18" charset="0"/>
                <a:ea typeface="Garamond Bold"/>
                <a:cs typeface="Times New Roman" panose="02020603050405020304" pitchFamily="18" charset="0"/>
                <a:sym typeface="Garamond Bold"/>
              </a:rPr>
              <a:t>Key Performance Indicators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172075"/>
            <a:ext cx="15845217" cy="5166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22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Total Sales:</a:t>
            </a:r>
          </a:p>
          <a:p>
            <a:pPr marL="474981" lvl="1" indent="-237491" algn="l">
              <a:lnSpc>
                <a:spcPts val="3740"/>
              </a:lnSpc>
              <a:buFont typeface="Arial"/>
              <a:buChar char="•"/>
            </a:pPr>
            <a:r>
              <a:rPr lang="en-US" sz="22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Provides a comparison of total monthly sales for the current year (CY) against the previous year (PY). </a:t>
            </a:r>
          </a:p>
          <a:p>
            <a:pPr marL="474981" lvl="1" indent="-237491" algn="l">
              <a:lnSpc>
                <a:spcPts val="3740"/>
              </a:lnSpc>
              <a:buFont typeface="Arial"/>
              <a:buChar char="•"/>
            </a:pPr>
            <a:r>
              <a:rPr lang="en-US" sz="22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The orange dot marks the lowest sales month within the current year while the blue dot marks the highest sales month within the current year.</a:t>
            </a:r>
          </a:p>
          <a:p>
            <a:pPr algn="l">
              <a:lnSpc>
                <a:spcPts val="3740"/>
              </a:lnSpc>
            </a:pPr>
            <a:r>
              <a:rPr lang="en-US" sz="22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Total Profits:</a:t>
            </a:r>
          </a:p>
          <a:p>
            <a:pPr marL="474981" lvl="1" indent="-237491" algn="l">
              <a:lnSpc>
                <a:spcPts val="3740"/>
              </a:lnSpc>
              <a:buFont typeface="Arial"/>
              <a:buChar char="•"/>
            </a:pPr>
            <a:r>
              <a:rPr lang="en-US" sz="22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Compares total monthly profits for the current year (CY) and the previous year (PY).</a:t>
            </a:r>
          </a:p>
          <a:p>
            <a:pPr marL="474981" lvl="1" indent="-237491" algn="l">
              <a:lnSpc>
                <a:spcPts val="3740"/>
              </a:lnSpc>
              <a:buFont typeface="Arial"/>
              <a:buChar char="•"/>
            </a:pPr>
            <a:r>
              <a:rPr lang="en-US" sz="22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The orange dot indicates the lowest profit month in the current year while the blue dot indicates the highest profit month in the current year.</a:t>
            </a:r>
          </a:p>
          <a:p>
            <a:pPr marL="0" lvl="0" indent="0" algn="l">
              <a:lnSpc>
                <a:spcPts val="3740"/>
              </a:lnSpc>
            </a:pPr>
            <a:r>
              <a:rPr lang="en-US" sz="22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Total Quantity:</a:t>
            </a:r>
          </a:p>
          <a:p>
            <a:pPr marL="474981" lvl="1" indent="-237491" algn="l">
              <a:lnSpc>
                <a:spcPts val="3740"/>
              </a:lnSpc>
              <a:buFont typeface="Arial"/>
              <a:buChar char="•"/>
            </a:pPr>
            <a:r>
              <a:rPr lang="en-US" sz="2200" u="none" strike="noStrike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Tracks the total quantity of items sold monthly, comparing the current year (CY) with the previous year (PY).</a:t>
            </a:r>
          </a:p>
          <a:p>
            <a:pPr marL="474981" lvl="1" indent="-237491" algn="l">
              <a:lnSpc>
                <a:spcPts val="3740"/>
              </a:lnSpc>
              <a:buFont typeface="Arial"/>
              <a:buChar char="•"/>
            </a:pPr>
            <a:r>
              <a:rPr lang="en-US" sz="2200" u="none" strike="noStrike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The orange dot shows the lowest quantity sold in the current year while the blue dot shows the highest quantity sold in the current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4384" y="280884"/>
            <a:ext cx="15921831" cy="105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 b="1" dirty="0">
                <a:solidFill>
                  <a:srgbClr val="0F4662"/>
                </a:solidFill>
                <a:latin typeface="Times New Roman" panose="02020603050405020304" pitchFamily="18" charset="0"/>
                <a:ea typeface="Garamond Bold"/>
                <a:cs typeface="Times New Roman" panose="02020603050405020304" pitchFamily="18" charset="0"/>
                <a:sym typeface="Garamond Bold"/>
              </a:rPr>
              <a:t>Dashboard Components and Business Value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384" y="2162072"/>
            <a:ext cx="10365177" cy="3887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Customer Analysis:</a:t>
            </a:r>
          </a:p>
          <a:p>
            <a:pPr marL="518162" lvl="1" indent="-259081" algn="l">
              <a:lnSpc>
                <a:spcPts val="3360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Shows the number of orders per customer.</a:t>
            </a:r>
          </a:p>
          <a:p>
            <a:pPr marL="518162" lvl="1" indent="-259081" algn="l">
              <a:lnSpc>
                <a:spcPts val="3360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Helps in segmentation and targeted marketing.</a:t>
            </a:r>
          </a:p>
          <a:p>
            <a:pPr algn="l">
              <a:lnSpc>
                <a:spcPts val="3360"/>
              </a:lnSpc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Top Customers:</a:t>
            </a:r>
          </a:p>
          <a:p>
            <a:pPr marL="518162" lvl="1" indent="-259081" algn="l">
              <a:lnSpc>
                <a:spcPts val="3360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Lists top customers by name, last order date, profit, sales, and number of orders.</a:t>
            </a:r>
          </a:p>
          <a:p>
            <a:pPr marL="518162" lvl="1" indent="-259081" algn="l">
              <a:lnSpc>
                <a:spcPts val="3360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Identifies high-value accounts for retention and loyalty strategies.</a:t>
            </a:r>
          </a:p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Customer Satisfaction Score:</a:t>
            </a:r>
          </a:p>
          <a:p>
            <a:pPr marL="518162" lvl="1" indent="-259081" algn="l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Shows count of customers by satisfaction score (1 lowest to 5 highest).</a:t>
            </a:r>
          </a:p>
          <a:p>
            <a:pPr marL="518162" lvl="1" indent="-259081" algn="l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Feedback-driven metric to refine customer experience strategies.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4384" y="1607943"/>
            <a:ext cx="8339557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F4662"/>
                </a:solidFill>
                <a:latin typeface="Times New Roman" panose="02020603050405020304" pitchFamily="18" charset="0"/>
                <a:ea typeface="Garamond Bold"/>
                <a:cs typeface="Times New Roman" panose="02020603050405020304" pitchFamily="18" charset="0"/>
                <a:sym typeface="Garamond Bold"/>
              </a:rPr>
              <a:t>Customer Satisfaction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63963" y="3392450"/>
            <a:ext cx="5553339" cy="1707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Sales &amp;Profit over Time: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Tracks weekly sales and profits.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To spot anomalies, evaluate campaign effectiveness, and budget smarter.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63963" y="2789069"/>
            <a:ext cx="5348229" cy="465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F4662"/>
                </a:solidFill>
                <a:latin typeface="Times New Roman" panose="02020603050405020304" pitchFamily="18" charset="0"/>
                <a:ea typeface="Garamond Bold"/>
                <a:cs typeface="Times New Roman" panose="02020603050405020304" pitchFamily="18" charset="0"/>
                <a:sym typeface="Garamond Bold"/>
              </a:rPr>
              <a:t>Trend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83510" y="6960841"/>
            <a:ext cx="10360861" cy="3009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2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Quantity Sold: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2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Shows the total quantity sold over the current year and the year-over-year growth.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2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Helps track how stock moves.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2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Sales &amp;Profits by Subcategory: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200" u="none" strike="noStrike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Compares 2014 vs 2013 sales and profit by subcategory.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200" u="none" strike="noStrike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Detects best- and worst-performing categories, aligning product strategies with Rate of Interest (ROI).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83510" y="6408391"/>
            <a:ext cx="9328509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F4662"/>
                </a:solidFill>
                <a:latin typeface="Times New Roman" panose="02020603050405020304" pitchFamily="18" charset="0"/>
                <a:ea typeface="Garamond Bold"/>
                <a:cs typeface="Times New Roman" panose="02020603050405020304" pitchFamily="18" charset="0"/>
                <a:sym typeface="Garamond Bold"/>
              </a:rPr>
              <a:t>Inventory Levels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76095" y="1688873"/>
            <a:ext cx="12076900" cy="8081234"/>
          </a:xfrm>
          <a:custGeom>
            <a:avLst/>
            <a:gdLst/>
            <a:ahLst/>
            <a:cxnLst/>
            <a:rect l="l" t="t" r="r" b="b"/>
            <a:pathLst>
              <a:path w="12076900" h="8081234">
                <a:moveTo>
                  <a:pt x="0" y="0"/>
                </a:moveTo>
                <a:lnTo>
                  <a:pt x="12076900" y="0"/>
                </a:lnTo>
                <a:lnTo>
                  <a:pt x="12076900" y="8081234"/>
                </a:lnTo>
                <a:lnTo>
                  <a:pt x="0" y="8081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409892"/>
            <a:ext cx="16230600" cy="105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 b="1" dirty="0">
                <a:solidFill>
                  <a:srgbClr val="0F4662"/>
                </a:solidFill>
                <a:latin typeface="Times New Roman" panose="02020603050405020304" pitchFamily="18" charset="0"/>
                <a:ea typeface="Garamond Bold"/>
                <a:cs typeface="Times New Roman" panose="02020603050405020304" pitchFamily="18" charset="0"/>
                <a:sym typeface="Garamond Bold"/>
              </a:rPr>
              <a:t>Tableau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4771" y="1809453"/>
            <a:ext cx="5539941" cy="7448847"/>
            <a:chOff x="0" y="0"/>
            <a:chExt cx="858282" cy="11540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8282" cy="1154021"/>
            </a:xfrm>
            <a:custGeom>
              <a:avLst/>
              <a:gdLst/>
              <a:ahLst/>
              <a:cxnLst/>
              <a:rect l="l" t="t" r="r" b="b"/>
              <a:pathLst>
                <a:path w="858282" h="1154021">
                  <a:moveTo>
                    <a:pt x="32142" y="0"/>
                  </a:moveTo>
                  <a:lnTo>
                    <a:pt x="826140" y="0"/>
                  </a:lnTo>
                  <a:cubicBezTo>
                    <a:pt x="843892" y="0"/>
                    <a:pt x="858282" y="14390"/>
                    <a:pt x="858282" y="32142"/>
                  </a:cubicBezTo>
                  <a:lnTo>
                    <a:pt x="858282" y="1121879"/>
                  </a:lnTo>
                  <a:cubicBezTo>
                    <a:pt x="858282" y="1130404"/>
                    <a:pt x="854896" y="1138579"/>
                    <a:pt x="848868" y="1144607"/>
                  </a:cubicBezTo>
                  <a:cubicBezTo>
                    <a:pt x="842840" y="1150635"/>
                    <a:pt x="834665" y="1154021"/>
                    <a:pt x="826140" y="1154021"/>
                  </a:cubicBezTo>
                  <a:lnTo>
                    <a:pt x="32142" y="1154021"/>
                  </a:lnTo>
                  <a:cubicBezTo>
                    <a:pt x="23617" y="1154021"/>
                    <a:pt x="15442" y="1150635"/>
                    <a:pt x="9414" y="1144607"/>
                  </a:cubicBezTo>
                  <a:cubicBezTo>
                    <a:pt x="3386" y="1138579"/>
                    <a:pt x="0" y="1130404"/>
                    <a:pt x="0" y="1121879"/>
                  </a:cubicBezTo>
                  <a:lnTo>
                    <a:pt x="0" y="32142"/>
                  </a:lnTo>
                  <a:cubicBezTo>
                    <a:pt x="0" y="14390"/>
                    <a:pt x="14390" y="0"/>
                    <a:pt x="32142" y="0"/>
                  </a:cubicBezTo>
                  <a:close/>
                </a:path>
              </a:pathLst>
            </a:custGeom>
            <a:blipFill>
              <a:blip r:embed="rId2"/>
              <a:stretch>
                <a:fillRect t="-5710" b="-57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449761" y="0"/>
            <a:ext cx="9838239" cy="10287000"/>
            <a:chOff x="0" y="0"/>
            <a:chExt cx="2591141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08038" y="312439"/>
            <a:ext cx="7941722" cy="105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 b="1" dirty="0">
                <a:solidFill>
                  <a:srgbClr val="0F4662"/>
                </a:solidFill>
                <a:latin typeface="Times New Roman" panose="02020603050405020304" pitchFamily="18" charset="0"/>
                <a:ea typeface="Garamond Bold"/>
                <a:cs typeface="Times New Roman" panose="02020603050405020304" pitchFamily="18" charset="0"/>
                <a:sym typeface="Garamond Bold"/>
              </a:rPr>
              <a:t>Outcomes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52617" y="2042706"/>
            <a:ext cx="8606683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The most ratings clustered at Score 4 (1,428), a strong indication of a positive customer experience.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The scores 1 and 2 can help tailor customer satisfaction strategies.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52617" y="8058048"/>
            <a:ext cx="8606683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Garamond"/>
                <a:ea typeface="Garamond"/>
                <a:cs typeface="Garamond"/>
                <a:sym typeface="Garamond"/>
              </a:rPr>
              <a:t>Weekly sales averaged $81K, showing steady performance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Garamond"/>
                <a:ea typeface="Garamond"/>
                <a:cs typeface="Garamond"/>
                <a:sym typeface="Garamond"/>
              </a:rPr>
              <a:t>Profits averaged $10K weekly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52617" y="4820392"/>
            <a:ext cx="8606683" cy="2058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60,622 units sold, with a +25.94% year-over-year increase shows robust growth in demand.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Phones and Copiers are top performers in both sales and profit.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Tables generated losses despite decent sales.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52617" y="1319187"/>
            <a:ext cx="8606683" cy="52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5"/>
              </a:lnSpc>
            </a:pPr>
            <a:r>
              <a:rPr lang="en-US" sz="3000" b="1" dirty="0">
                <a:solidFill>
                  <a:srgbClr val="0F4662"/>
                </a:solidFill>
                <a:latin typeface="Times New Roman" panose="02020603050405020304" pitchFamily="18" charset="0"/>
                <a:ea typeface="Garamond Bold"/>
                <a:cs typeface="Times New Roman" panose="02020603050405020304" pitchFamily="18" charset="0"/>
                <a:sym typeface="Garamond Bold"/>
              </a:rPr>
              <a:t>Customer Satisfaction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52617" y="7373092"/>
            <a:ext cx="8606683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9"/>
              </a:lnSpc>
            </a:pPr>
            <a:r>
              <a:rPr lang="en-US" sz="3000" b="1" dirty="0">
                <a:solidFill>
                  <a:srgbClr val="0F4662"/>
                </a:solidFill>
                <a:latin typeface="Times New Roman" panose="02020603050405020304" pitchFamily="18" charset="0"/>
                <a:ea typeface="Garamond Bold"/>
                <a:cs typeface="Times New Roman" panose="02020603050405020304" pitchFamily="18" charset="0"/>
                <a:sym typeface="Garamond Bold"/>
              </a:rPr>
              <a:t>Trend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52617" y="4075661"/>
            <a:ext cx="8606683" cy="53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5"/>
              </a:lnSpc>
            </a:pPr>
            <a:r>
              <a:rPr lang="en-US" sz="3000" b="1" dirty="0">
                <a:solidFill>
                  <a:srgbClr val="0F4662"/>
                </a:solidFill>
                <a:latin typeface="Garamond Bold"/>
                <a:ea typeface="Garamond Bold"/>
                <a:cs typeface="Garamond Bold"/>
                <a:sym typeface="Garamond Bold"/>
              </a:rPr>
              <a:t>Inventory 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28700" y="974152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0325286" y="969347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80659"/>
            <a:ext cx="16047224" cy="105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 b="1" dirty="0">
                <a:solidFill>
                  <a:srgbClr val="0F4662"/>
                </a:solidFill>
                <a:latin typeface="Times New Roman" panose="02020603050405020304" pitchFamily="18" charset="0"/>
                <a:ea typeface="Garamond Bold"/>
                <a:cs typeface="Times New Roman" panose="02020603050405020304" pitchFamily="18" charset="0"/>
                <a:sym typeface="Garamond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5743" y="2066277"/>
            <a:ext cx="12839780" cy="3184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00"/>
              </a:lnSpc>
            </a:pPr>
            <a:r>
              <a:rPr lang="en-US" sz="30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The retail dashboard highlights good business performance;</a:t>
            </a:r>
          </a:p>
          <a:p>
            <a:pPr marL="647702" lvl="1" indent="-323851" algn="just">
              <a:lnSpc>
                <a:spcPts val="5100"/>
              </a:lnSpc>
              <a:buFont typeface="Arial"/>
              <a:buChar char="•"/>
            </a:pPr>
            <a:r>
              <a:rPr lang="en-US" sz="30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Strong customer acquisition, retention,  and growth.</a:t>
            </a:r>
          </a:p>
          <a:p>
            <a:pPr marL="647702" lvl="1" indent="-323851" algn="just">
              <a:lnSpc>
                <a:spcPts val="5100"/>
              </a:lnSpc>
              <a:buFont typeface="Arial"/>
              <a:buChar char="•"/>
            </a:pPr>
            <a:r>
              <a:rPr lang="en-US" sz="30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High satisfaction among engaged customers.</a:t>
            </a:r>
          </a:p>
          <a:p>
            <a:pPr marL="647702" lvl="1" indent="-323851" algn="just">
              <a:lnSpc>
                <a:spcPts val="5100"/>
              </a:lnSpc>
              <a:buFont typeface="Arial"/>
              <a:buChar char="•"/>
            </a:pPr>
            <a:r>
              <a:rPr lang="en-US" sz="30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High sales and profits within specific subcategories.</a:t>
            </a:r>
          </a:p>
          <a:p>
            <a:pPr marL="626112" lvl="1" indent="-313056" algn="just">
              <a:lnSpc>
                <a:spcPts val="4930"/>
              </a:lnSpc>
              <a:buFont typeface="Arial"/>
              <a:buChar char="•"/>
            </a:pPr>
            <a:r>
              <a:rPr lang="en-US" sz="3000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Averagely good sales and profits distribution within the year.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2710" y="3360139"/>
            <a:ext cx="11402580" cy="305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dirty="0">
                <a:solidFill>
                  <a:srgbClr val="0F466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566</Words>
  <Application>Microsoft Macintosh PowerPoint</Application>
  <PresentationFormat>Custom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Garamond Bold</vt:lpstr>
      <vt:lpstr>Garamond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Bavesh  Kolli</cp:lastModifiedBy>
  <cp:revision>1</cp:revision>
  <dcterms:created xsi:type="dcterms:W3CDTF">2006-08-16T00:00:00Z</dcterms:created>
  <dcterms:modified xsi:type="dcterms:W3CDTF">2025-04-24T02:40:48Z</dcterms:modified>
  <dc:identifier>DAGkbrB0uAY</dc:identifier>
</cp:coreProperties>
</file>